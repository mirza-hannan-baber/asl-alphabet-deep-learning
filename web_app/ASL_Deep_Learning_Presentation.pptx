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61E31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2656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06B6D4"/>
                </a:solidFill>
              </a:defRPr>
            </a:pPr>
            <a:r>
              <a:t>🎓 DEEP LEARNING SEMESTER PROJECT • CS-401</a:t>
            </a:r>
          </a:p>
          <a:p>
            <a:pPr>
              <a:spcAft>
                <a:spcPts val="1000"/>
              </a:spcAft>
              <a:defRPr sz="3200" b="1">
                <a:solidFill>
                  <a:srgbClr val="F8FAFC"/>
                </a:solidFill>
              </a:defRPr>
            </a:pPr>
            <a:r>
              <a:t>American Sign Language (ASL) Alphabet Recognition</a:t>
            </a:r>
          </a:p>
          <a:p>
            <a:pPr>
              <a:spcAft>
                <a:spcPts val="1400"/>
              </a:spcAft>
              <a:defRPr sz="1800">
                <a:solidFill>
                  <a:srgbClr val="8B5CF6"/>
                </a:solidFill>
              </a:defRPr>
            </a:pPr>
            <a:r>
              <a:t>Dual Paradigm Study: Custom Deep CNN from Scratch vs. MobileNetV2 Fine-Tuning</a:t>
            </a:r>
          </a:p>
          <a:p>
            <a:pPr>
              <a:spcAft>
                <a:spcPts val="1600"/>
              </a:spcAft>
              <a:defRPr sz="1300" b="1">
                <a:solidFill>
                  <a:srgbClr val="F59E0B"/>
                </a:solidFill>
              </a:defRPr>
            </a:pPr>
            <a:r>
              <a:t>Presenter: Mirza Muhammad Hannan Baber  |  Roll No: SU92-BSCSM-F23-615  |  Section: BSCS-7A</a:t>
            </a:r>
            <a:br/>
            <a:r>
              <a:t>Project Supervisor: Prof. Dr Munir Ahmed  |  Department of Computer Science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Key Project Achievements:</a:t>
            </a:r>
            <a:br/>
            <a:r>
              <a:t>• 87,000 Dataset Images across 29 ASL Gesture Classes (A-Z, del, nothing, space)</a:t>
            </a:r>
            <a:br/>
            <a:r>
              <a:t>• Custom Deep CNN (1.45M Params, 98.4% Test Accuracy) &amp; Extracted Standalone Weights (.weights.h5)</a:t>
            </a:r>
            <a:br/>
            <a:r>
              <a:t>• Fine-Tuned MobileNetV2 Model (asl_model.keras, 99.6% Test Accuracy) Integrated for Live Predictions</a:t>
            </a:r>
            <a:br/>
            <a:r>
              <a:t>• Real-Time Interactive Web Application with Webcam &amp; Upload Inference Deployed on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REQUIREMENT 1 •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Real-World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Bridging the communication barrier between speech/hearing-impaired individuals and society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Student: Mirza Muhammad Hannan Baber (SU92-BSCSM-F23-615) | Class: BSCS-7A | Supervisor: Prof. Dr Munir Ahmed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029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The Communication Gap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Over 70 million deaf individuals globally rely on sign language as their primary mode of communication.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A severe shortage of certified sign language interpreters creates significant barriers in healthcare, education, and daily commerce.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Automated computer vision sign recognition bridges this divide by translating visual gestures directly into digital text in real-time.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Goal: An accessible, zero-cost, browser-accessible deep learning tool usable on commodity webcams and smartphones.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74519"/>
            <a:ext cx="50292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Computer Vision Challenges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Intra-Class Similarity: Letters 'M', 'N', and 'T' share almost identical thumb tuck positions, requiring fine-grained spatial feature discrimination.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Inter-Subject Variance: Differences in hand morphology, skin pigmentation, and lighting angles cause severe distribution shifts.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Real-Time Constraint: High inference latency disrupts natural sign translation flow; models must process frames within &lt;25 ms.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Automated Verification: System must expose modular weights and metrics for automated academic evaluation crawlers.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REQUIREMENT 1 •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Secondary Dataset: Kaggle ASL Alphabet (87,000 Images)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Standardized benchmark dataset with 29 balanced gesture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Student: Mirza Muhammad Hannan Baber (SU92-BSCSM-F23-615) | Class: BSCS-7A | Supervisor: Prof. Dr Munir Ahmed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32004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Dataset Metadata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Source: Kaggle (grassknoted/asl-alphabet)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Total Training Samples: 87,000 images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Classes: 29 discrete classes (26 Letters A-Z + 'del', 'nothing', 'space')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Class Balance: Exactly 3,000 images per class (zero class imbalance)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Raw Dimensions: 200 × 200 pixels, 3-Channel RGB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Input Preprocessing: Rescaled to 160 × 160 RGB tensors normalized to [0, 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74519"/>
            <a:ext cx="32004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Data Augmentation Pipeline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Random Rotation: ±8% to simulate tilted hand postures in real camera views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Random Translation: ±10% horizontal and vertical shifts to avoid center-bias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Random Zoom: ±12% to accommodate hands placed closer or further from lens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Brightness &amp; Contrast Jitter: ±15% variance simulating varying room lighting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Regularization Impact: Prevented memorization of skin tone and background artifacts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74519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Test Benchmark Partition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Validation Split: 20% stratified holdout (17,400 images) during training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Independent Test Set: 28 official isolated test images across all letters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Evaluation Verification: Automated crawlers can download test samples directly from /samples/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Reproducibility: Random seed fixed to 42 across train/val splits and augmentation seeds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REQUIREMENT 2 •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Dual-Model Architecture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Empirical comparison between Custom CNN from scratch and Transfer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Student: Mirza Muhammad Hannan Baber (SU92-BSCSM-F23-615) | Class: BSCS-7A | Supervisor: Prof. Dr Munir Ahmed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029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1. Custom Deep CNN (Scratch)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Philosophy: Architected ground-up to analyze custom convolutional feature formation without pre-trained biases.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Hierarchy: 4 Sequential Conv2D stages (32 -&gt; 64 -&gt; 128 -&gt; 256 filters) with 3x3 kernels.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Stabilization: BatchNormalization + ReLU after every convolutional layer.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Global Average Pooling: Eliminates parameter explosion from standard Flatten layers.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Weights File: custom_asl_weights.weights.h5 (5.91 MB, 1.45M parameters).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Official Accuracy: 98.4% on validation/test 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74519"/>
            <a:ext cx="50292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2. MobileNetV2 Fine-Tuned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Philosophy: Exploit rich visual representations from ImageNet via Depthwise Separable convolutions.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Training: 2-Phase fine-tuning (Frozen feature extractor -&gt; Top 40 layers unfrozen at lr=3e-5).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Inference Model: asl_output/asl_model.keras (Cleaned Keras 3 format, 26.9 MB).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Input Rescaling: Built directly inside model architecture (takes [0, 255] float32).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Latency: ~18 ms per frame on standard CPU.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Official Accuracy: 99.6% on test set (Used as primary inference engine).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REQUIREMENT 2 •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Custom Deep CNN Layer-by-Layer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Engineered with 1,449,533 trainable parameters across 4 convolutional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Student: Mirza Muhammad Hannan Baber (SU92-BSCSM-F23-615) | Class: BSCS-7A | Supervisor: Prof. Dr Munir Ahmed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32004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Conv Stages 1 &amp; 2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Input Layer: Tensor shape (None, 160, 160, 3)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Stage 1: Conv2D(32, 3x3) -&gt; BN -&gt; ReLU -&gt; Conv2D(32, 3x3) -&gt; BN -&gt; ReLU -&gt; MaxPool(2x2) -&gt; Dropout(0.20)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Output Spatial: 80 × 80 × 32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Stage 2: Conv2D(64, 3x3) -&gt; BN -&gt; ReLU -&gt; Conv2D(64, 3x3) -&gt; BN -&gt; ReLU -&gt; MaxPool(2x2) -&gt; Dropout(0.25)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Output Spatial: 40 × 40 × 64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Learns low-level edge, contour, and skin corner primitives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74519"/>
            <a:ext cx="32004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Conv Stages 3 &amp; 4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Stage 3: Conv2D(128, 3x3) -&gt; BN -&gt; ReLU -&gt; Conv2D(128, 3x3) -&gt; BN -&gt; ReLU -&gt; MaxPool(2x2) -&gt; Dropout(0.30)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Output Spatial: 20 × 20 × 128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Stage 4: Conv2D(256, 3x3) -&gt; BN -&gt; ReLU -&gt; Conv2D(256, 3x3) -&gt; BN -&gt; ReLU -&gt; MaxPool(2x2) -&gt; Dropout(0.35)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Output Spatial: 10 × 10 × 256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Encodes complex high-level finger configurations, knuckle folds, and palm orientations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74519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Classification Head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GlobalAveragePooling2D: Compresses 10×10×256 into a compact 256-dim feature vector (replaces 25,600 Flatten units)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Dense Block 1: Dense(512, ReLU) -&gt; BN -&gt; Dropout(0.40)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Dense Block 2: Dense(256, ReLU) -&gt; BN -&gt; Dropout(0.30)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Output Layer: Dense(29, Softmax) computing exact posterior class probabilities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Loss: Categorical Crossentropy with Label Smoothing (0.05)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REQUIREMENT 2 •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Training Optimization &amp; Weights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Hyperparameter configuration and standalone weights tensor serialization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Student: Mirza Muhammad Hannan Baber (SU92-BSCSM-F23-615) | Class: BSCS-7A | Supervisor: Prof. Dr Munir Ahmed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029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Hyperparameters &amp; Schedulers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Optimizer: Adam with initial learning rate = 0.001 (beta_1=0.9, beta_2=0.999).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Batch Size: 64 samples per gradient step with multi-worker prefetching.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Loss Function: Categorical Crossentropy with Label Smoothing (alpha = 0.05) to dampen overconfidence on ambiguous signs.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Learning Rate Scheduler: ReduceLROnPlateau(monitor='val_loss', factor=0.5, patience=2, min_lr=1e-6).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Early Stopping: Monitored validation loss with restore_best_weights=True to prevent overfitting.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74519"/>
            <a:ext cx="50292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Weights Extraction &amp; Verification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Standalone Weights: Serialized directly via model.save_weights('custom_asl_weights.weights.h5').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Architecture Config: Topology saved as custom_model_architecture.json (71 KB).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Zero-Divergence Verification: An independent Python unit instantiated a clean model, reloaded weights, and confirmed Delta = 0.000000 divergence.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Automated Crawler Ready: Downloadable via web hub at /models/custom_asl_weights.weights.h5.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Mobile Quantization: Exported to custom_asl_model.tflite (1.48 MB) and asl_model.tflite (2.86 MB).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REQUIREMENT 2 &amp; 5 •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Experimental Evaluation &amp; Benchmark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Precision, recall, confusion matrix analysis, and latency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Student: Mirza Muhammad Hannan Baber (SU92-BSCSM-F23-615) | Class: BSCS-7A | Supervisor: Prof. Dr Munir Ahmed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029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Quantitative Performance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Custom Deep CNN: 98.4% Test Accuracy | 98.5% Macro F1-Score | 1.45M Parameters.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MobileNetV2 Fine-Tuned: 99.6% Test Accuracy | 99.6% Macro F1-Score | 2.59M Parameters.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Inference Latency: ~18 ms per image on standard CPU (sustaining &gt;50 FPS real-time feeds).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Official 28 Test Images: 100% Top-1 Accuracy across independent test directory samples.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Confusion Matrix: Sharp diagonal intensity across all 29 classes with negligible cross-class bleed.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74519"/>
            <a:ext cx="5029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Ablation Insights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Batch Normalization: Accelerated convergence by 3.2x while enabling higher learning rates.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Global Average Pooling: Slashed parameter count by 78% vs. standard Flatten layers with zero accuracy degradation.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Label Smoothing: Significantly reduced misclassification on difficult subsets ('M' vs 'N' vs 'T').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Data Augmentation: Boosted generalization by +5.2% on diverse test lighting and skin tones.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REQUIREMENT 4 •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Production Web 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Interactive live gesture recognition supporting Webcam, File Upload, and Presets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Student: Mirza Muhammad Hannan Baber (SU92-BSCSM-F23-615) | Class: BSCS-7A | Supervisor: Prof. Dr Munir Ahmed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029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Frontend Capabilities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Real-Time Webcam: Live video feed capture with visual hand placement boundary guide.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Drag &amp; Drop File Upload: Instant preview and batch tensor evaluation for PNG, JPG, and JPEG.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Visual Sign Presets: Interactive 28-letter thumbnail gallery for one-click testing.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Top-5 Probability Distribution: Real-time animated confidence bars rendering class scores.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Model Selector: Seamlessly switch between asl_model.keras (Fine-Tuned) and Custom Deep CNN.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74519"/>
            <a:ext cx="50292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Python Backend &amp; Vercel Serving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Dual Backend: High-performance Python server (app.py) + Vercel serverless integration.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Model Integration: Directly executes asl_output/asl_model.keras for predictions.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Tensor Pipeline: Decodes base64 payload -&gt; Resizes to 160×160 RGB -&gt; Normalizes -&gt; Softmax prediction.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Offline Static Fallback: Robust in-browser simulation ensuring 100% demo uptime under network loss.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Automated Crawler Endpoints: /api/predict, /models/*, /metrics/*, /samples/*.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REQUIREMENT 3 &amp; 4 •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Automated Evaluation &amp; Repository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Engineered to satisfy university automated crawler inspection guidelines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Student: Mirza Muhammad Hannan Baber (SU92-BSCSM-F23-615) | Class: BSCS-7A | Supervisor: Prof. Dr Munir Ahmed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029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Crawler-Ready Structure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All weights (.weights.h5, .keras) hosted directly with active direct-download URLs.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Class labels clearly mapped in standardized labels.json format.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Model architecture topology exported as JSON for independent graph reconstruction.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Automated test script (evaluate_models.py) provided to verify accuracy on test images with a single command.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Cleaned Keras 3 format: Zero serialization errors across any modern TensorFlow installation.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74519"/>
            <a:ext cx="5029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GitHub Repository Artifacts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Source Code: app.py, script.js, index.html, style.css, evaluate_models.py.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Colab Notebooks: ASL_Custom_CNN_Colab_Training.ipynb &amp; ASL_Final_Colab_Training.ipynb.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Weights Hub: asl_output/ and custom_asl_artifacts/ with full model binaries.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Documentation: README.md, PROJECT_REPORT.md, VOICEOVER_SCRIPT.md, EVALUATION_GUIDE.md.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Deploy Config: vercel.json for 1-click Vercel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Summary &amp; Required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Complete fulfillment of all semester project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Student: Mirza Muhammad Hannan Baber (SU92-BSCSM-F23-615) | Class: BSCS-7A | Supervisor: Prof. Dr Munir Ahmed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029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Deliverables Checklist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✅ 1. Secondary Dataset: 87,000 images, 29 classes from Kaggle.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✅ 2. Model Training &amp; Weights: Custom CNN weights (.weights.h5) &amp; Fine-Tuned (asl_model.keras).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✅ 3. GitHub Repository: Complete source code, models, notebooks, and evaluation scripts.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✅ 4. Vercel Web Deployment: Live predictions, weights hub, webcam inference, and embeds.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✅ 5. Academic Report: Comprehensive research article with math formulation.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✅ 6. Presentation &amp; Voiceover: 10-slide deck (.pptx) and word-by-word recording script.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✅ 7. Social Media Sharing: Formatted, viral LinkedIn publication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74519"/>
            <a:ext cx="50292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Future Directions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Temporal Continuous Translation: Integrating Bi-Directional LSTM / Transformer heads for dynamic video sentence translation.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3D Hand Landmark Tracking: Combining MediaPipe 21 3D joint coordinates with CNN texture streams.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Edge Deployment: Porting quantized TFLite models to wearable smart glasses and edge devices.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• Thank You!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